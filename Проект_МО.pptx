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9" r:id="rId16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4328" autoAdjust="0"/>
  </p:normalViewPr>
  <p:slideViewPr>
    <p:cSldViewPr snapToGrid="0">
      <p:cViewPr varScale="1">
        <p:scale>
          <a:sx n="93" d="100"/>
          <a:sy n="9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2404B17-5E12-4800-93A2-50B4BCF228EF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BD65BC62-3B36-43F8-8B69-D6E5E743DA3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EF24DFF5-B7B6-4D25-962D-EB07A7CAEC05}" type="datetime1">
              <a:rPr lang="ru-RU" smtClean="0"/>
              <a:pPr/>
              <a:t>29.12.2025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6AEB063-7F11-4E3B-BA52-07405B1C2D9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должен быть конкретным и недвусмысленным. Используйте подзаголовок, чтобы уточнить контекст речи.</a:t>
            </a:r>
          </a:p>
          <a:p>
            <a:pPr rtl="0"/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– Цель — привлечь внимание аудитории с помощью цитаты, впечатляющей статистики или факта.  Необязательно привлекать внимание именно к слайду.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помощью фоновых пунктов можно публиковать сведения, не относящиеся к широко известным или к тем, которые аудитория должна будет понять в контексте доклада.</a:t>
            </a:r>
          </a:p>
          <a:p>
            <a:pPr rtl="0"/>
            <a:r>
              <a:rPr lang="ru-RU" dirty="0"/>
              <a:t>– Не читайте эти основные пункты прямо из PowerPoint, а раскрывайте их значение во время доклада.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качестве контраргумента нужно привести аргумент, который высказывается против рассматриваемой темы чаще всего.  Цель этого слайда — рассмотреть контраргумент таким образом, чтобы укрепить первоначальную тему.  Обязательно рассмотрите каждый элемент возражения против темы.  При рассмотрении каждого элемента обоснования развивайте мысль, выраженную с помощью текста на слайде.  Не забудьте о переходе к заключительному слайду — к этапу действия.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AEB063-7F11-4E3B-BA52-07405B1C2D9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054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6AEB063-7F11-4E3B-BA52-07405B1C2D95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8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noProof="0" dirty="0"/>
          </a:p>
        </p:txBody>
      </p:sp>
      <p:sp>
        <p:nvSpPr>
          <p:cNvPr id="11" name="Полилиния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lang="ru-RU" sz="54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ADA0615-70B1-47A3-9B80-0B3D53813ACA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6278A30-570D-4D77-864D-6054B3DD65A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содержимое раздел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948F317B-4809-4CA9-8BD5-24D36E938FB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Объект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400"/>
            </a:lvl2pPr>
            <a:lvl3pPr>
              <a:defRPr lang="ru-RU" sz="20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7907EFC3-5031-4BA5-AE02-8B0C573CA70E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121111D-A93E-43D7-ACD6-1B38644F1B3B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lang="ru-RU" sz="32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lang="ru-RU"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lang="ru-RU" sz="24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CFE7142-E8A3-4F46-BB87-FB3D88F146CD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 — 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lang="ru-RU" sz="2800"/>
            </a:lvl1pPr>
            <a:lvl2pPr>
              <a:defRPr lang="ru-RU" sz="2800"/>
            </a:lvl2pPr>
            <a:lvl3pPr>
              <a:defRPr lang="ru-RU" sz="2800"/>
            </a:lvl3pPr>
            <a:lvl4pPr>
              <a:defRPr lang="ru-RU" sz="2800"/>
            </a:lvl4pPr>
            <a:lvl5pPr>
              <a:defRPr lang="ru-RU" sz="2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6FD4E8AA-675A-456D-83EF-0B034B79820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lang="ru-RU"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  <a:lvl2pPr>
              <a:defRPr lang="ru-RU">
                <a:solidFill>
                  <a:schemeClr val="bg1"/>
                </a:solidFill>
              </a:defRPr>
            </a:lvl2pPr>
            <a:lvl3pPr>
              <a:defRPr lang="ru-RU">
                <a:solidFill>
                  <a:schemeClr val="bg1"/>
                </a:solidFill>
              </a:defRPr>
            </a:lvl3pPr>
            <a:lvl4pPr>
              <a:defRPr lang="ru-RU">
                <a:solidFill>
                  <a:schemeClr val="bg1"/>
                </a:solidFill>
              </a:defRPr>
            </a:lvl4pPr>
            <a:lvl5pPr>
              <a:defRPr lang="ru-RU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FD48859-0224-42B7-A551-986EE7070A68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9C47BBC-124B-4354-BA9F-697A36A79431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lang="ru-RU" sz="4800" b="0" cap="none"/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lang="ru-RU" sz="2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E7E2490-00F7-40A0-AE9A-35519406E8CA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lang="ru-RU" sz="2000" b="0"/>
            </a:lvl1pPr>
            <a:lvl2pPr marL="457200" indent="0">
              <a:buNone/>
              <a:defRPr lang="ru-RU" sz="2000" b="1"/>
            </a:lvl2pPr>
            <a:lvl3pPr marL="914400" indent="0">
              <a:buNone/>
              <a:defRPr lang="ru-RU" sz="1800" b="1"/>
            </a:lvl3pPr>
            <a:lvl4pPr marL="1371600" indent="0">
              <a:buNone/>
              <a:defRPr lang="ru-RU" sz="1600" b="1"/>
            </a:lvl4pPr>
            <a:lvl5pPr marL="1828800" indent="0">
              <a:buNone/>
              <a:defRPr lang="ru-RU" sz="1600" b="1"/>
            </a:lvl5pPr>
            <a:lvl6pPr marL="2286000" indent="0">
              <a:buNone/>
              <a:defRPr lang="ru-RU" sz="1600" b="1"/>
            </a:lvl6pPr>
            <a:lvl7pPr marL="2743200" indent="0">
              <a:buNone/>
              <a:defRPr lang="ru-RU" sz="1600" b="1"/>
            </a:lvl7pPr>
            <a:lvl8pPr marL="3200400" indent="0">
              <a:buNone/>
              <a:defRPr lang="ru-RU" sz="1600" b="1"/>
            </a:lvl8pPr>
            <a:lvl9pPr marL="3657600" indent="0">
              <a:buNone/>
              <a:defRPr lang="ru-RU"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2122F47-1781-411F-97F2-7DB4D0E6E3F6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CFD6A85-E3E0-4E77-A4D4-FB7BC6459629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3D592D33-A9D9-4DB5-BF3A-9FDA0DA8938B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lang="ru-RU" sz="2800"/>
            </a:lvl1pPr>
            <a:lvl2pPr marL="457200" indent="0">
              <a:buNone/>
              <a:defRPr lang="ru-RU" sz="1200"/>
            </a:lvl2pPr>
            <a:lvl3pPr marL="914400" indent="0">
              <a:buNone/>
              <a:defRPr lang="ru-RU" sz="1000"/>
            </a:lvl3pPr>
            <a:lvl4pPr marL="1371600" indent="0">
              <a:buNone/>
              <a:defRPr lang="ru-RU" sz="900"/>
            </a:lvl4pPr>
            <a:lvl5pPr marL="1828800" indent="0">
              <a:buNone/>
              <a:defRPr lang="ru-RU" sz="900"/>
            </a:lvl5pPr>
            <a:lvl6pPr marL="2286000" indent="0">
              <a:buNone/>
              <a:defRPr lang="ru-RU" sz="900"/>
            </a:lvl6pPr>
            <a:lvl7pPr marL="2743200" indent="0">
              <a:buNone/>
              <a:defRPr lang="ru-RU" sz="900"/>
            </a:lvl7pPr>
            <a:lvl8pPr marL="3200400" indent="0">
              <a:buNone/>
              <a:defRPr lang="ru-RU" sz="900"/>
            </a:lvl8pPr>
            <a:lvl9pPr marL="3657600" indent="0">
              <a:buNone/>
              <a:defRPr lang="ru-RU"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54350D-3D52-46BD-88C5-9C3847FB31F5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лилиния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lang="ru-RU" sz="4000" b="0" cap="none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AACFC17-7D26-4653-8D99-258018512918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Заголовок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lang="ru-RU" sz="4000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lang="ru-RU" sz="2800"/>
            </a:lvl1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A6F7F65-D2BC-4359-AEFE-9BBD69ABC510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lang="ru-RU" b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 lang="ru-RU"/>
            </a:lvl1pPr>
            <a:lvl2pPr algn="ctr">
              <a:defRPr lang="ru-RU"/>
            </a:lvl2pPr>
            <a:lvl3pPr algn="ctr">
              <a:defRPr lang="ru-RU"/>
            </a:lvl3pPr>
            <a:lvl4pPr algn="ctr">
              <a:defRPr lang="ru-RU"/>
            </a:lvl4pPr>
            <a:lvl5pPr algn="ctr">
              <a:defRPr lang="ru-RU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5135333A-6508-4654-9F14-15A9CDEB00C3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Добавить нижний колонтитул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900">
                <a:solidFill>
                  <a:schemeClr val="tx1"/>
                </a:solidFill>
              </a:defRPr>
            </a:lvl1pPr>
          </a:lstStyle>
          <a:p>
            <a:pPr rtl="0"/>
            <a:fld id="{002A82A3-50A6-450E-91E5-E33E2A20B642}" type="datetime1">
              <a:rPr lang="ru-RU" noProof="0" smtClean="0"/>
              <a:t>29.12.2025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lang="ru-RU"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lang="ru-RU"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lang="ru-RU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uvokumarbasak2030/hiv-adult-prevalence-rate" TargetMode="External"/><Relationship Id="rId2" Type="http://schemas.openxmlformats.org/officeDocument/2006/relationships/hyperlink" Target="https://en.wikipedia.org/wiki/HIV_adult_prevalence_rate#cite_note-CIAHIVprevalence-1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80211" y="1449147"/>
            <a:ext cx="12015536" cy="297105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Прогноз числа ВИЧ-инфицированных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Предмет: Машинное обучение</a:t>
            </a:r>
            <a:endParaRPr lang="ru-RU" sz="2400" dirty="0"/>
          </a:p>
        </p:txBody>
      </p:sp>
      <p:sp>
        <p:nvSpPr>
          <p:cNvPr id="6" name="Надпись 5">
            <a:extLst>
              <a:ext uri="{FF2B5EF4-FFF2-40B4-BE49-F238E27FC236}">
                <a16:creationId xmlns:a16="http://schemas.microsoft.com/office/drawing/2014/main" id="{84D618E2-C3E2-4721-A4CA-1E9208B1959E}"/>
              </a:ext>
            </a:extLst>
          </p:cNvPr>
          <p:cNvSpPr txBox="1"/>
          <p:nvPr/>
        </p:nvSpPr>
        <p:spPr>
          <a:xfrm>
            <a:off x="8470232" y="360063"/>
            <a:ext cx="3316769" cy="738664"/>
          </a:xfrm>
          <a:prstGeom prst="rect">
            <a:avLst/>
          </a:prstGeom>
          <a:solidFill>
            <a:schemeClr val="tx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Студенты: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 Аветисян Алина,</a:t>
            </a:r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Дымова Диана, Чернятьева Олеся</a:t>
            </a:r>
          </a:p>
          <a:p>
            <a:pPr rtl="0"/>
            <a:r>
              <a:rPr lang="ru-RU" sz="1400" b="1" dirty="0">
                <a:ea typeface="Tahoma" panose="020B0604030504040204" pitchFamily="34" charset="0"/>
                <a:cs typeface="Tahoma" panose="020B0604030504040204" pitchFamily="34" charset="0"/>
              </a:rPr>
              <a:t>Группа</a:t>
            </a:r>
            <a:r>
              <a:rPr lang="ru-RU" sz="1400" dirty="0">
                <a:ea typeface="Tahoma" panose="020B0604030504040204" pitchFamily="34" charset="0"/>
                <a:cs typeface="Tahoma" panose="020B0604030504040204" pitchFamily="34" charset="0"/>
              </a:rPr>
              <a:t>: НПМбд-01-23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236178"/>
            <a:ext cx="7440620" cy="13816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3600" dirty="0"/>
              <a:t>Что такое ВИЧ и СПИД?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48151" y="2463132"/>
            <a:ext cx="5186363" cy="3638550"/>
          </a:xfrm>
        </p:spPr>
        <p:txBody>
          <a:bodyPr rtlCol="0">
            <a:normAutofit fontScale="92500" lnSpcReduction="20000"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b="1" dirty="0"/>
              <a:t>ВИЧ</a:t>
            </a:r>
            <a:r>
              <a:rPr lang="ru-RU" dirty="0"/>
              <a:t> — это вирус, который поражает определённые клетки иммунной системы, отвечающие за борьбу с инфекциями. Постепенно размножаясь, вирус разрушает эти клетки, в результате чего иммунитет ослабевает. Организм становится уязвимым для различных бактерий, вирусов и грибков, с которыми раньше мог легко справляться.</a:t>
            </a:r>
          </a:p>
          <a:p>
            <a:pPr marL="0" indent="0">
              <a:buNone/>
            </a:pPr>
            <a:r>
              <a:rPr lang="ru-RU" b="1" dirty="0"/>
              <a:t>СПИД</a:t>
            </a:r>
            <a:r>
              <a:rPr lang="ru-RU" dirty="0"/>
              <a:t> — это конечная стадия развития ВИЧ-инфекции, которая возникает при отсутствии лечения. Она характеризуется глубоким угнетением иммунной системы. На этой стадии у человека могут развиваться тяжёлые инфекционные и онкологические заболевания, так как его организм практически не способен им противостоять. 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EAEB45-73DA-4942-9673-8B5F64D726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  <a:p>
            <a:pPr rtl="0"/>
            <a:r>
              <a:rPr lang="ru-RU"/>
              <a:t>[Поместите здесь изображение, которое лучше всего иллюстрирует главную идею речи]</a:t>
            </a:r>
          </a:p>
          <a:p>
            <a:pPr rtl="0"/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484DC7B-B645-EC3E-F12F-B47930F15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14" y="2209111"/>
            <a:ext cx="5303545" cy="365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597A3-CAEC-4FBF-94DF-5925729E0C97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160421" y="591567"/>
            <a:ext cx="11013030" cy="97045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Проблема и цели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EF5FD3-E825-420F-8A22-D0B5F329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453" y="2703550"/>
            <a:ext cx="10571998" cy="3638764"/>
          </a:xfrm>
        </p:spPr>
        <p:txBody>
          <a:bodyPr rtlCol="0">
            <a:normAutofit fontScale="62500" lnSpcReduction="20000"/>
          </a:bodyPr>
          <a:lstStyle>
            <a:defPPr>
              <a:defRPr lang="ru-RU"/>
            </a:defPPr>
          </a:lstStyle>
          <a:p>
            <a:r>
              <a:rPr lang="ru-RU" b="1" dirty="0"/>
              <a:t>Проблема:</a:t>
            </a:r>
            <a:r>
              <a:rPr lang="ru-RU" dirty="0"/>
              <a:t> Понимание и прогнозирование масштабов эпидемии ВИЧ в разных странах.</a:t>
            </a:r>
          </a:p>
          <a:p>
            <a:r>
              <a:rPr lang="ru-RU" b="1" dirty="0"/>
              <a:t>Цели:</a:t>
            </a:r>
            <a:endParaRPr lang="ru-RU" dirty="0"/>
          </a:p>
          <a:p>
            <a:pPr marL="457200" lvl="1" indent="0">
              <a:buNone/>
            </a:pPr>
            <a:r>
              <a:rPr lang="ru-RU" dirty="0"/>
              <a:t>Создать инструмент для прогнозирования общего числа инфицированных ВИЧ в стране.</a:t>
            </a:r>
          </a:p>
          <a:p>
            <a:pPr marL="457200" lvl="1" indent="0">
              <a:buNone/>
            </a:pPr>
            <a:r>
              <a:rPr lang="ru-RU" dirty="0"/>
              <a:t>Проанализировать влияние ключевых факторов (распространенность среди взрослых, смертность, население).</a:t>
            </a:r>
          </a:p>
          <a:p>
            <a:pPr marL="457200" lvl="1" indent="0">
              <a:buNone/>
            </a:pPr>
            <a:r>
              <a:rPr lang="ru-RU" dirty="0"/>
              <a:t>Сравнить эффективность различных алгоритмов машинного обучения для этой задачи.</a:t>
            </a:r>
          </a:p>
          <a:p>
            <a:r>
              <a:rPr lang="ru-RU" b="1" dirty="0"/>
              <a:t>Актуальность:</a:t>
            </a:r>
            <a:r>
              <a:rPr lang="ru-RU" dirty="0"/>
              <a:t> Прогноз помогает в планировании ресурсов здравоохранения, профилактических мер и оценки эффективности программ борьбы с ВИЧ.</a:t>
            </a:r>
          </a:p>
          <a:p>
            <a:pPr rtl="0"/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6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8F8AC-3600-EAEB-B4AC-C9CAC096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9" y="711883"/>
            <a:ext cx="10571998" cy="970450"/>
          </a:xfrm>
        </p:spPr>
        <p:txBody>
          <a:bodyPr/>
          <a:lstStyle/>
          <a:p>
            <a:r>
              <a:rPr lang="ru-RU" dirty="0"/>
              <a:t>Используемые данные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465B5E0-0D54-088B-13A9-F2C999301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232" y="2390728"/>
            <a:ext cx="12031579" cy="4162471"/>
          </a:xfrm>
        </p:spPr>
        <p:txBody>
          <a:bodyPr>
            <a:normAutofit lnSpcReduction="10000"/>
          </a:bodyPr>
          <a:lstStyle/>
          <a:p>
            <a:r>
              <a:rPr lang="ru-RU" sz="1800" b="1" dirty="0"/>
              <a:t>Источники: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https://en.wikipedia.org/wiki/HIV_adult_prevalence_rate#cite_note-CIAHIVprevalence-1</a:t>
            </a:r>
            <a:r>
              <a:rPr lang="ru-RU" sz="1800" dirty="0"/>
              <a:t> – Википедия</a:t>
            </a:r>
          </a:p>
          <a:p>
            <a:pPr marL="0" indent="0">
              <a:buNone/>
            </a:pPr>
            <a:r>
              <a:rPr lang="en-US" sz="1800" dirty="0">
                <a:hlinkClick r:id="rId3"/>
              </a:rPr>
              <a:t>https://www.kaggle.com/datasets/shuvokumarbasak2030/hiv-adult-prevalence-rate</a:t>
            </a:r>
            <a:r>
              <a:rPr lang="ru-RU" sz="1800" dirty="0"/>
              <a:t> – датасет</a:t>
            </a:r>
          </a:p>
          <a:p>
            <a:r>
              <a:rPr lang="ru-RU" sz="1800" b="1" dirty="0"/>
              <a:t>Исходные признаки:</a:t>
            </a:r>
          </a:p>
          <a:p>
            <a:pPr lvl="1">
              <a:buFont typeface="+mj-lt"/>
              <a:buAutoNum type="arabicPeriod"/>
            </a:pPr>
            <a:r>
              <a:rPr lang="en-US" sz="1800" dirty="0"/>
              <a:t>Country/Region</a:t>
            </a:r>
            <a:r>
              <a:rPr lang="ru-RU" sz="1800" dirty="0"/>
              <a:t> (Страна\Регион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Adult prevalence of HIV/AIDS (%)</a:t>
            </a:r>
            <a:r>
              <a:rPr lang="ru-RU" sz="1800" dirty="0"/>
              <a:t> (</a:t>
            </a:r>
            <a:r>
              <a:rPr lang="ru-RU" sz="1900" dirty="0"/>
              <a:t>Распространенность ВИЧ/СПИДа среди взрослого  населения)</a:t>
            </a:r>
            <a:endParaRPr lang="en-US" sz="19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Number of people with HIV/AIDS</a:t>
            </a:r>
            <a:r>
              <a:rPr lang="ru-RU" sz="1800" dirty="0"/>
              <a:t> </a:t>
            </a:r>
            <a:r>
              <a:rPr lang="ru-RU" sz="1600" dirty="0"/>
              <a:t>(</a:t>
            </a:r>
            <a:r>
              <a:rPr lang="ru-RU" sz="1800" dirty="0"/>
              <a:t>Число людей с ВИЧ/СПИД)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Annual deaths from HIV/AIDS</a:t>
            </a:r>
            <a:r>
              <a:rPr lang="ru-RU" sz="1800" dirty="0"/>
              <a:t> (Ежегодные случаи смерти от ВИЧ\СПИДа)</a:t>
            </a:r>
            <a:endParaRPr lang="en-US" sz="1800" dirty="0"/>
          </a:p>
          <a:p>
            <a:pPr lvl="1">
              <a:buFont typeface="+mj-lt"/>
              <a:buAutoNum type="arabicPeriod"/>
            </a:pPr>
            <a:r>
              <a:rPr lang="en-US" sz="1800" dirty="0"/>
              <a:t>Year of estimate</a:t>
            </a:r>
            <a:r>
              <a:rPr lang="ru-RU" sz="1800" dirty="0"/>
              <a:t> (Год оценки)</a:t>
            </a:r>
          </a:p>
          <a:p>
            <a:r>
              <a:rPr lang="ru-RU" sz="1800" b="1" dirty="0"/>
              <a:t>Целевая переменная: </a:t>
            </a:r>
            <a:r>
              <a:rPr lang="en-US" sz="1800" dirty="0"/>
              <a:t>Number of people with HIV/AIDS</a:t>
            </a:r>
            <a:r>
              <a:rPr lang="ru-RU" sz="1800" dirty="0"/>
              <a:t> (</a:t>
            </a:r>
            <a:r>
              <a:rPr lang="ru-RU" sz="1900" dirty="0"/>
              <a:t>Число людей с ВИЧ/СПИД)</a:t>
            </a:r>
            <a:endParaRPr lang="ru-RU" sz="1900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85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5E9B6-A699-2CC8-C605-63185AE7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Предобработка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405A85-4D59-B17B-05D5-EF7BEBBAC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Фильтрация: Выбор 11 стран (Россия, США, Кения, Индия и др.).</a:t>
            </a:r>
          </a:p>
          <a:p>
            <a:r>
              <a:rPr lang="ru-RU" sz="1600" dirty="0"/>
              <a:t>Перевод: Переименование колонок для удобства (на русский).</a:t>
            </a:r>
          </a:p>
          <a:p>
            <a:r>
              <a:rPr lang="ru-RU" sz="1600" dirty="0"/>
              <a:t>Исправление: Удаление лишних символов (например, «я») из названий стран.</a:t>
            </a:r>
          </a:p>
          <a:p>
            <a:r>
              <a:rPr lang="ru-RU" sz="1600" dirty="0"/>
              <a:t>Добавленный признак:</a:t>
            </a:r>
          </a:p>
          <a:p>
            <a:pPr marL="400050" lvl="1" indent="0">
              <a:buNone/>
            </a:pPr>
            <a:r>
              <a:rPr lang="ru-RU" sz="1600" dirty="0"/>
              <a:t>Смертность на 1000 инфицированных: Ежегодные смерти / Число людей с ВИЧ * 1000. Показывает летальность вируса в популяции.</a:t>
            </a:r>
          </a:p>
        </p:txBody>
      </p:sp>
    </p:spTree>
    <p:extLst>
      <p:ext uri="{BB962C8B-B14F-4D97-AF65-F5344CB8AC3E}">
        <p14:creationId xmlns:p14="http://schemas.microsoft.com/office/powerpoint/2010/main" val="385204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C920-1197-1FE7-8E41-D18E53FA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132AA-44FA-2F70-4F87-81026929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095" y="679798"/>
            <a:ext cx="10571998" cy="970450"/>
          </a:xfrm>
        </p:spPr>
        <p:txBody>
          <a:bodyPr/>
          <a:lstStyle/>
          <a:p>
            <a:r>
              <a:rPr lang="ru-RU" dirty="0"/>
              <a:t>Формирование признаков и разбиение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FABE9D-ACB2-CA19-6E0D-E05799F942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800" b="1" dirty="0"/>
              <a:t>Признаки (X):</a:t>
            </a:r>
          </a:p>
          <a:p>
            <a:r>
              <a:rPr lang="ru-RU" sz="1800" dirty="0"/>
              <a:t>Распространенность ВИЧ среди взрослых (%)</a:t>
            </a:r>
          </a:p>
          <a:p>
            <a:r>
              <a:rPr lang="ru-RU" sz="1800" dirty="0"/>
              <a:t>Ежегодные смерти от ВИЧ/СПИД</a:t>
            </a:r>
          </a:p>
          <a:p>
            <a:r>
              <a:rPr lang="ru-RU" sz="1800" dirty="0"/>
              <a:t>Население страны</a:t>
            </a:r>
          </a:p>
          <a:p>
            <a:r>
              <a:rPr lang="ru-RU" sz="1800" dirty="0"/>
              <a:t>Новый признак: Смертность на 1000 инфицированных</a:t>
            </a:r>
          </a:p>
          <a:p>
            <a:r>
              <a:rPr lang="ru-RU" sz="1800" b="1" dirty="0"/>
              <a:t>Целевая переменная (y): </a:t>
            </a:r>
            <a:r>
              <a:rPr lang="ru-RU" sz="1800" dirty="0"/>
              <a:t>Число людей с ВИЧ/СПИД.</a:t>
            </a:r>
          </a:p>
          <a:p>
            <a:r>
              <a:rPr lang="ru-RU" sz="1800" dirty="0"/>
              <a:t>Разделение: </a:t>
            </a:r>
            <a:r>
              <a:rPr lang="ru-RU" sz="1800" i="1" dirty="0" err="1"/>
              <a:t>train_test_split</a:t>
            </a:r>
            <a:r>
              <a:rPr lang="ru-RU" sz="1800" i="1" dirty="0"/>
              <a:t> </a:t>
            </a:r>
            <a:r>
              <a:rPr lang="ru-RU" sz="1800" dirty="0"/>
              <a:t>(70% на обучение, 30% на тест)</a:t>
            </a:r>
          </a:p>
        </p:txBody>
      </p:sp>
    </p:spTree>
    <p:extLst>
      <p:ext uri="{BB962C8B-B14F-4D97-AF65-F5344CB8AC3E}">
        <p14:creationId xmlns:p14="http://schemas.microsoft.com/office/powerpoint/2010/main" val="2678116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32A54-F5EA-3857-B9A4-31070702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47" y="631672"/>
            <a:ext cx="10571998" cy="970450"/>
          </a:xfrm>
        </p:spPr>
        <p:txBody>
          <a:bodyPr/>
          <a:lstStyle/>
          <a:p>
            <a:r>
              <a:rPr lang="ru-RU" dirty="0"/>
              <a:t>Выбор и обучение моделей</a:t>
            </a:r>
            <a:br>
              <a:rPr lang="ru-RU" b="1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F94F7-1289-8B46-A7D1-6E6935B19F58}"/>
              </a:ext>
            </a:extLst>
          </p:cNvPr>
          <p:cNvSpPr txBox="1"/>
          <p:nvPr/>
        </p:nvSpPr>
        <p:spPr>
          <a:xfrm>
            <a:off x="561347" y="2366209"/>
            <a:ext cx="1082854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b="1" dirty="0"/>
              <a:t>Алгоритмы:</a:t>
            </a:r>
          </a:p>
          <a:p>
            <a:pPr>
              <a:buFont typeface="+mj-lt"/>
              <a:buAutoNum type="arabicPeriod"/>
            </a:pPr>
            <a:r>
              <a:rPr lang="ru-RU" sz="1700" b="1" dirty="0"/>
              <a:t> </a:t>
            </a:r>
            <a:r>
              <a:rPr lang="en-US" sz="1700" u="sng" dirty="0"/>
              <a:t>Gradient Boosting Regressor</a:t>
            </a:r>
            <a:r>
              <a:rPr lang="ru-RU" sz="1700" u="sng" dirty="0"/>
              <a:t>:</a:t>
            </a:r>
          </a:p>
          <a:p>
            <a:pPr marL="400050" lvl="1" indent="0">
              <a:buNone/>
            </a:pPr>
            <a:r>
              <a:rPr lang="ru-RU" sz="1700" i="1" dirty="0"/>
              <a:t>Принцип работы: </a:t>
            </a:r>
            <a:r>
              <a:rPr lang="ru-RU" sz="1700" dirty="0"/>
              <a:t>Строит последовательность слабых моделей (обычно неглубоких деревьев), где каждая следующая модель учится на ошибках предыдущей, постепенно улучшая общий прогноз.</a:t>
            </a:r>
          </a:p>
          <a:p>
            <a:pPr marL="400050" lvl="1" indent="0">
              <a:buNone/>
            </a:pPr>
            <a:r>
              <a:rPr lang="ru-RU" sz="1700" i="1" dirty="0"/>
              <a:t>Преимущество для нашей задачи: </a:t>
            </a:r>
            <a:r>
              <a:rPr lang="ru-RU" sz="1700" dirty="0"/>
              <a:t>Высокая точность, часто лучший результат на небольших и средних выборках, к которым относятся наши данные</a:t>
            </a:r>
          </a:p>
          <a:p>
            <a:r>
              <a:rPr lang="ru-RU" sz="1700" b="1" dirty="0"/>
              <a:t>2. </a:t>
            </a:r>
            <a:r>
              <a:rPr lang="en-US" sz="1700" u="sng" dirty="0"/>
              <a:t>Random Forest Regressor</a:t>
            </a:r>
            <a:r>
              <a:rPr lang="ru-RU" sz="1700" u="sng" dirty="0"/>
              <a:t>:</a:t>
            </a:r>
          </a:p>
          <a:p>
            <a:pPr marL="400050" lvl="1" indent="0">
              <a:buNone/>
            </a:pPr>
            <a:r>
              <a:rPr lang="ru-RU" sz="1700" i="1" dirty="0"/>
              <a:t>Принцип работы: </a:t>
            </a:r>
            <a:r>
              <a:rPr lang="ru-RU" sz="1700" dirty="0"/>
              <a:t>Создает множество </a:t>
            </a:r>
            <a:r>
              <a:rPr lang="ru-RU" sz="1700" i="1" dirty="0"/>
              <a:t>независимых решающих деревьев </a:t>
            </a:r>
            <a:r>
              <a:rPr lang="ru-RU" sz="1700" dirty="0"/>
              <a:t>(обычно глубоких). Каждое дерево обучается на своей случайной </a:t>
            </a:r>
            <a:r>
              <a:rPr lang="ru-RU" sz="1700" dirty="0" err="1"/>
              <a:t>подвыборке</a:t>
            </a:r>
            <a:r>
              <a:rPr lang="ru-RU" sz="1700" dirty="0"/>
              <a:t> данных и признаков. Итоговый прогноз — это </a:t>
            </a:r>
            <a:r>
              <a:rPr lang="ru-RU" sz="1700" i="1" dirty="0"/>
              <a:t>усредненный результат </a:t>
            </a:r>
            <a:r>
              <a:rPr lang="ru-RU" sz="1700" dirty="0"/>
              <a:t>всех деревьев «леса».</a:t>
            </a:r>
          </a:p>
          <a:p>
            <a:pPr marL="400050" lvl="1" indent="0">
              <a:buNone/>
            </a:pPr>
            <a:r>
              <a:rPr lang="ru-RU" sz="1700" i="1" dirty="0"/>
              <a:t>Преимущество для нашей задачи</a:t>
            </a:r>
            <a:r>
              <a:rPr lang="ru-RU" sz="1700" b="1" dirty="0"/>
              <a:t>:</a:t>
            </a:r>
            <a:r>
              <a:rPr lang="ru-RU" sz="1700" dirty="0"/>
              <a:t> Устойчивость к переобучению, хорошая интерпретируемость важности признаков, высокая скорость работы.</a:t>
            </a:r>
          </a:p>
        </p:txBody>
      </p:sp>
    </p:spTree>
    <p:extLst>
      <p:ext uri="{BB962C8B-B14F-4D97-AF65-F5344CB8AC3E}">
        <p14:creationId xmlns:p14="http://schemas.microsoft.com/office/powerpoint/2010/main" val="76819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39C97-07C2-9427-1B4E-8979A75B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74" y="615630"/>
            <a:ext cx="11189620" cy="970450"/>
          </a:xfrm>
        </p:spPr>
        <p:txBody>
          <a:bodyPr/>
          <a:lstStyle/>
          <a:p>
            <a:r>
              <a:rPr lang="ru-RU" dirty="0"/>
              <a:t>Метрики оценки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53945-696F-1C2B-7BEF-BD414A144727}"/>
              </a:ext>
            </a:extLst>
          </p:cNvPr>
          <p:cNvSpPr txBox="1"/>
          <p:nvPr/>
        </p:nvSpPr>
        <p:spPr>
          <a:xfrm>
            <a:off x="1211053" y="2671010"/>
            <a:ext cx="117668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/>
              <a:t>Средняя абсолютная ошибка (MAE):</a:t>
            </a:r>
          </a:p>
          <a:p>
            <a:r>
              <a:rPr lang="ru-RU" b="1" dirty="0"/>
              <a:t>      </a:t>
            </a:r>
            <a:r>
              <a:rPr lang="ru-RU" i="1" dirty="0"/>
              <a:t>Что измеряет: </a:t>
            </a:r>
            <a:r>
              <a:rPr lang="ru-RU" dirty="0"/>
              <a:t>Насколько сильно в среднем ошибается наш прогноз?</a:t>
            </a:r>
          </a:p>
          <a:p>
            <a:r>
              <a:rPr lang="ru-RU" b="1" dirty="0"/>
              <a:t>       </a:t>
            </a:r>
            <a:r>
              <a:rPr lang="ru-RU" i="1" dirty="0"/>
              <a:t>Как считать: </a:t>
            </a:r>
            <a:r>
              <a:rPr lang="ru-RU" dirty="0"/>
              <a:t>Среднее(|Факт - Прогноз|)</a:t>
            </a:r>
          </a:p>
          <a:p>
            <a:r>
              <a:rPr lang="ru-RU" dirty="0"/>
              <a:t>       Чем меньше MAE, тем точнее модель.</a:t>
            </a:r>
          </a:p>
          <a:p>
            <a:endParaRPr lang="ru-RU" b="1" dirty="0"/>
          </a:p>
          <a:p>
            <a:r>
              <a:rPr lang="ru-RU" b="1" dirty="0"/>
              <a:t>2. Объяснённая доля дисперсии (</a:t>
            </a:r>
            <a:r>
              <a:rPr lang="en-US" b="1" dirty="0"/>
              <a:t>R²)</a:t>
            </a:r>
            <a:r>
              <a:rPr lang="ru-RU" b="1" dirty="0"/>
              <a:t>:</a:t>
            </a:r>
          </a:p>
          <a:p>
            <a:r>
              <a:rPr lang="ru-RU" b="1" dirty="0"/>
              <a:t>    </a:t>
            </a:r>
            <a:r>
              <a:rPr lang="ru-RU" i="1" dirty="0"/>
              <a:t>Что измеряет: </a:t>
            </a:r>
            <a:r>
              <a:rPr lang="ru-RU" dirty="0"/>
              <a:t>Насколько хорошо модель объясняет разброс данных?</a:t>
            </a:r>
          </a:p>
          <a:p>
            <a:r>
              <a:rPr lang="ru-RU" dirty="0"/>
              <a:t>    </a:t>
            </a:r>
            <a:r>
              <a:rPr lang="ru-RU" i="1" dirty="0"/>
              <a:t>Диапазон значений:</a:t>
            </a:r>
          </a:p>
          <a:p>
            <a:r>
              <a:rPr lang="ru-RU" dirty="0"/>
              <a:t>    R² = 1.0 — Идеальная модель (объясняет 100% изменчивости).</a:t>
            </a:r>
          </a:p>
          <a:p>
            <a:r>
              <a:rPr lang="ru-RU" dirty="0"/>
              <a:t>    R² = 0.0 — Модель не лучше простого среднего значения.</a:t>
            </a:r>
          </a:p>
          <a:p>
            <a:r>
              <a:rPr lang="ru-RU" dirty="0"/>
              <a:t>    R² &lt; 0.0 — Модель хуже среднего.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90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C3366-C285-25ED-3C0B-2073C010E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32" y="615630"/>
            <a:ext cx="10571998" cy="970450"/>
          </a:xfrm>
        </p:spPr>
        <p:txBody>
          <a:bodyPr/>
          <a:lstStyle/>
          <a:p>
            <a:r>
              <a:rPr lang="ru-RU" dirty="0"/>
              <a:t>Результаты и сравнение моделей</a:t>
            </a:r>
            <a:br>
              <a:rPr lang="ru-RU" b="1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8555F-76D7-269F-CA14-45DC5146198B}"/>
              </a:ext>
            </a:extLst>
          </p:cNvPr>
          <p:cNvSpPr txBox="1"/>
          <p:nvPr/>
        </p:nvSpPr>
        <p:spPr>
          <a:xfrm>
            <a:off x="236621" y="2459828"/>
            <a:ext cx="117187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Gradient Boosting Regressor</a:t>
            </a:r>
          </a:p>
          <a:p>
            <a:r>
              <a:rPr lang="en-US" dirty="0"/>
              <a:t>MAE: 193 127 </a:t>
            </a:r>
            <a:r>
              <a:rPr lang="ru-RU" dirty="0"/>
              <a:t>человек</a:t>
            </a:r>
          </a:p>
          <a:p>
            <a:r>
              <a:rPr lang="en-US" dirty="0"/>
              <a:t>R²: 0.926</a:t>
            </a:r>
          </a:p>
          <a:p>
            <a:r>
              <a:rPr lang="ru-RU" dirty="0"/>
              <a:t>Пример прогноза:</a:t>
            </a:r>
          </a:p>
          <a:p>
            <a:r>
              <a:rPr lang="ru-RU" dirty="0"/>
              <a:t>Предсказано: 2 196 643</a:t>
            </a:r>
          </a:p>
          <a:p>
            <a:r>
              <a:rPr lang="ru-RU" dirty="0"/>
              <a:t>Фактическое значение: 2 300 000</a:t>
            </a:r>
          </a:p>
          <a:p>
            <a:r>
              <a:rPr lang="ru-RU" dirty="0"/>
              <a:t>Настройки модели:</a:t>
            </a:r>
          </a:p>
          <a:p>
            <a:r>
              <a:rPr lang="en-US" dirty="0" err="1"/>
              <a:t>n_estimators</a:t>
            </a:r>
            <a:r>
              <a:rPr lang="en-US" dirty="0"/>
              <a:t>=200, </a:t>
            </a:r>
            <a:r>
              <a:rPr lang="en-US" dirty="0" err="1"/>
              <a:t>learning_rate</a:t>
            </a:r>
            <a:r>
              <a:rPr lang="en-US" dirty="0"/>
              <a:t>=0.05, </a:t>
            </a:r>
            <a:r>
              <a:rPr lang="en-US" dirty="0" err="1"/>
              <a:t>max_depth</a:t>
            </a:r>
            <a:r>
              <a:rPr lang="en-US" dirty="0"/>
              <a:t>=5</a:t>
            </a:r>
          </a:p>
          <a:p>
            <a:r>
              <a:rPr lang="en-US" b="1" dirty="0"/>
              <a:t>2. Random Forest Regressor</a:t>
            </a:r>
          </a:p>
          <a:p>
            <a:r>
              <a:rPr lang="en-US" dirty="0"/>
              <a:t>MAE: 349 952 </a:t>
            </a:r>
            <a:r>
              <a:rPr lang="ru-RU" dirty="0"/>
              <a:t>человека</a:t>
            </a:r>
          </a:p>
          <a:p>
            <a:r>
              <a:rPr lang="en-US" dirty="0"/>
              <a:t>R²: 0.739</a:t>
            </a:r>
          </a:p>
          <a:p>
            <a:r>
              <a:rPr lang="ru-RU" dirty="0"/>
              <a:t>Настройки модели:</a:t>
            </a:r>
          </a:p>
          <a:p>
            <a:r>
              <a:rPr lang="en-US" dirty="0" err="1"/>
              <a:t>n_estimators</a:t>
            </a:r>
            <a:r>
              <a:rPr lang="en-US" dirty="0"/>
              <a:t>=100, </a:t>
            </a:r>
            <a:r>
              <a:rPr lang="en-US" dirty="0" err="1"/>
              <a:t>max_depth</a:t>
            </a:r>
            <a:r>
              <a:rPr lang="en-US" dirty="0"/>
              <a:t>=10, </a:t>
            </a:r>
            <a:r>
              <a:rPr lang="en-US" dirty="0" err="1"/>
              <a:t>n_jobs</a:t>
            </a:r>
            <a:r>
              <a:rPr lang="en-US" dirty="0"/>
              <a:t>=-1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C5ED1-746B-4E2E-65A5-FFC965E3E4D4}"/>
              </a:ext>
            </a:extLst>
          </p:cNvPr>
          <p:cNvSpPr txBox="1"/>
          <p:nvPr/>
        </p:nvSpPr>
        <p:spPr>
          <a:xfrm>
            <a:off x="6577263" y="2459828"/>
            <a:ext cx="51013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 показал значительно лучшие результаты по обеим метрикам.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Его ошибка прогноза почти в 2 раза ниже, а объясняющая способность (R²) близка к идеальной (0.926).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r>
              <a:rPr lang="ru-RU" dirty="0"/>
              <a:t>, хотя и быстрее обучается, уступает в точности и надёжности прогноза.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8011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A91C-8359-5E73-D69F-2C0848BA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C5CD0-011B-91FD-339D-9851FFF3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69" y="1048767"/>
            <a:ext cx="10571998" cy="970450"/>
          </a:xfrm>
        </p:spPr>
        <p:txBody>
          <a:bodyPr/>
          <a:lstStyle/>
          <a:p>
            <a:r>
              <a:rPr lang="ru-RU" dirty="0"/>
              <a:t>Визуализация результатов</a:t>
            </a:r>
            <a:br>
              <a:rPr lang="ru-RU" dirty="0"/>
            </a:br>
            <a:br>
              <a:rPr lang="ru-RU" b="1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6EEAA7-1F24-4DAB-254A-6351324C2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20" y="2254871"/>
            <a:ext cx="8087360" cy="460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81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04F-3217-4B68-9874-4E9EB97B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05147-76D1-7D7E-0FCB-E32D1C73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90" y="663756"/>
            <a:ext cx="10571998" cy="970450"/>
          </a:xfrm>
        </p:spPr>
        <p:txBody>
          <a:bodyPr/>
          <a:lstStyle/>
          <a:p>
            <a:br>
              <a:rPr lang="ru-RU" dirty="0"/>
            </a:br>
            <a:r>
              <a:rPr lang="ru-RU" dirty="0"/>
              <a:t>Заключение и выводы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37162-ADB2-2F3A-6DB8-EFD1B7669D53}"/>
              </a:ext>
            </a:extLst>
          </p:cNvPr>
          <p:cNvSpPr txBox="1"/>
          <p:nvPr/>
        </p:nvSpPr>
        <p:spPr>
          <a:xfrm>
            <a:off x="304737" y="2741557"/>
            <a:ext cx="115825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Главный результат: </a:t>
            </a:r>
            <a:r>
              <a:rPr lang="ru-RU" dirty="0"/>
              <a:t>Построена модель (</a:t>
            </a: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), способная прогнозировать общее число ВИЧ-инфицированных в стране (R² ≈ 0.93)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прогноза наиболее важны распространенность среди взрослых (%) и общая численность населения страны.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Практическая ценность: </a:t>
            </a:r>
            <a:r>
              <a:rPr lang="ru-RU" dirty="0"/>
              <a:t>Модель может использоваться для аналитики и проверки данных в странах с неполной статистикой.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u="sng" dirty="0"/>
              <a:t>Ограничения и пути развития:</a:t>
            </a:r>
          </a:p>
          <a:p>
            <a:pPr lvl="1"/>
            <a:r>
              <a:rPr lang="ru-RU" dirty="0"/>
              <a:t>Маленький размер выборки (11 стран). Нужны данные по всем странам.</a:t>
            </a:r>
          </a:p>
          <a:p>
            <a:pPr lvl="1"/>
            <a:r>
              <a:rPr lang="ru-RU" dirty="0"/>
              <a:t>Можно добавить больше социально-экономических признаков (ВВП, уровень медицины, доступ к терапии).</a:t>
            </a:r>
          </a:p>
        </p:txBody>
      </p:sp>
    </p:spTree>
    <p:extLst>
      <p:ext uri="{BB962C8B-B14F-4D97-AF65-F5344CB8AC3E}">
        <p14:creationId xmlns:p14="http://schemas.microsoft.com/office/powerpoint/2010/main" val="9507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434264-D005-0786-6C03-B7C0DD4BC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093" y="2255520"/>
            <a:ext cx="7911254" cy="44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3_TF45182065_Win32" id="{81E9B72E-6278-48C4-8F23-0E85C9AB8A23}" vid="{39E52162-5218-4605-B2A1-FA81506DEB4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Структура убедительной речи </Template>
  <TotalTime>266</TotalTime>
  <Words>1046</Words>
  <Application>Microsoft Office PowerPoint</Application>
  <PresentationFormat>Широкоэкранный</PresentationFormat>
  <Paragraphs>98</Paragraphs>
  <Slides>12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Tahoma</vt:lpstr>
      <vt:lpstr>Wingdings 2</vt:lpstr>
      <vt:lpstr>Цитаты</vt:lpstr>
      <vt:lpstr>Прогноз числа ВИЧ-инфицированных</vt:lpstr>
      <vt:lpstr>Что такое ВИЧ и СПИД?</vt:lpstr>
      <vt:lpstr>Проблема и цели проекта </vt:lpstr>
      <vt:lpstr>Используемые данные </vt:lpstr>
      <vt:lpstr>Предобработка данных </vt:lpstr>
      <vt:lpstr>Формирование признаков и разбиение </vt:lpstr>
      <vt:lpstr>Выбор и обучение моделей </vt:lpstr>
      <vt:lpstr>Метрики оценки </vt:lpstr>
      <vt:lpstr>Результаты и сравнение моделей </vt:lpstr>
      <vt:lpstr>Визуализация результатов  </vt:lpstr>
      <vt:lpstr> Заключение и выводы 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Олеся Чернятьева</dc:creator>
  <cp:lastModifiedBy>Олеся Чернятьева</cp:lastModifiedBy>
  <cp:revision>3</cp:revision>
  <dcterms:created xsi:type="dcterms:W3CDTF">2025-12-28T18:17:26Z</dcterms:created>
  <dcterms:modified xsi:type="dcterms:W3CDTF">2025-12-29T06:22:22Z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